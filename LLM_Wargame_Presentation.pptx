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 (250 games)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5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DCR</c:v>
                  </c:pt>
                  <c:pt idx="1">
                    <c:v>Entropy</c:v>
                  </c:pt>
                  <c:pt idx="2">
                    <c:v>ESI</c:v>
                  </c:pt>
                  <c:pt idx="3">
                    <c:v>Transition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0.644</c:v>
                </c:pt>
                <c:pt idx="1">
                  <c:v>1.208</c:v>
                </c:pt>
                <c:pt idx="2">
                  <c:v>0.1</c:v>
                </c:pt>
                <c:pt idx="3">
                  <c:v>0.35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(100 games)</c:v>
                </c:pt>
              </c:strCache>
            </c:strRef>
          </c:tx>
          <c:spPr>
            <a:solidFill>
              <a:srgbClr val="D4A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5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DCR</c:v>
                  </c:pt>
                  <c:pt idx="1">
                    <c:v>Entropy</c:v>
                  </c:pt>
                  <c:pt idx="2">
                    <c:v>ESI</c:v>
                  </c:pt>
                  <c:pt idx="3">
                    <c:v>Transition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0.718</c:v>
                </c:pt>
                <c:pt idx="1">
                  <c:v>1.701</c:v>
                </c:pt>
                <c:pt idx="2">
                  <c:v>0.15</c:v>
                </c:pt>
                <c:pt idx="3">
                  <c:v>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455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5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 Agent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45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move</c:v>
                  </c:pt>
                  <c:pt idx="1">
                    <c:v>hold</c:v>
                  </c:pt>
                  <c:pt idx="2">
                    <c:v>attack</c:v>
                  </c:pt>
                  <c:pt idx="3">
                    <c:v>support_by_fire</c:v>
                  </c:pt>
                  <c:pt idx="4">
                    <c:v>withdraw</c:v>
                  </c:pt>
                  <c:pt idx="5">
                    <c:v>recon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60.5</c:v>
                </c:pt>
                <c:pt idx="1">
                  <c:v>28.1</c:v>
                </c:pt>
                <c:pt idx="2">
                  <c:v>3.8</c:v>
                </c:pt>
                <c:pt idx="3">
                  <c:v>0</c:v>
                </c:pt>
                <c:pt idx="4">
                  <c:v>7.6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Agent</c:v>
                </c:pt>
              </c:strCache>
            </c:strRef>
          </c:tx>
          <c:spPr>
            <a:solidFill>
              <a:srgbClr val="D4A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45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move</c:v>
                  </c:pt>
                  <c:pt idx="1">
                    <c:v>hold</c:v>
                  </c:pt>
                  <c:pt idx="2">
                    <c:v>attack</c:v>
                  </c:pt>
                  <c:pt idx="3">
                    <c:v>support_by_fire</c:v>
                  </c:pt>
                  <c:pt idx="4">
                    <c:v>withdraw</c:v>
                  </c:pt>
                  <c:pt idx="5">
                    <c:v>recon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49.1</c:v>
                </c:pt>
                <c:pt idx="1">
                  <c:v>27.9</c:v>
                </c:pt>
                <c:pt idx="2">
                  <c:v>9.6</c:v>
                </c:pt>
                <c:pt idx="3">
                  <c:v>11.7</c:v>
                </c:pt>
                <c:pt idx="4">
                  <c:v>0</c:v>
                </c:pt>
                <c:pt idx="5">
                  <c:v>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455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5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2286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기반 다중 에이전트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워게임 시뮬레이션 연구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언어모델의 전술적 의사결정 능력 평가 프레임워크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 유대현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 및 목적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워게임의 한계와 LLM 도입 필요성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LLM과 에이전트의 이해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9933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언어모델의 역할과 에이전트 개념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29514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95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설계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5237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에이전트 워게임 프레임워크 아키텍처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254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825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설계 및 수행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0540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시나리오, 에이전트 구성, 평가 지표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355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5844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교리 준수, 행동 다양성, 의사결정 근거 분석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워게임과의 비교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모델 대비 LLM 워게임의 우위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416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416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활용 가능성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6451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국방 분야 LLM 적용 전망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20240" y="1554480"/>
            <a:ext cx="36576" cy="640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연구 배경 및 목적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워게임의 한계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41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고정된 의사결정 구조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16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사전에 프로그래밍된 규칙(if-then) 기반으로만 작동하여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가능하고 반복적인 행동 패턴 생성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행동 다양성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21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정의된 규칙 외의 창의적 전술 조합이 불가능하며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실전의 불확실성과 임기응변을 반영하지 못함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의존성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설계부터 의사결정 로직까지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군사 전문가의 지속적 개입이 필요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862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 부족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2336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시나리오·교리 변경 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규칙 체계를 재설계해야 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68680"/>
            <a:ext cx="54864" cy="20116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1325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군사 교리를 준수하며 전술적 의사결정을 수행할 수 있는가?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에이전트의 행동 다양성이 규칙 기반 에이전트보다 높은가?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어떤 근거로 전술적 판단을 내리는지 추적·검증할 수 있는가?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137160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방법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LLM을 전술 지휘관 역할의 자율 에이전트로 배치하고,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엔진·시나리오·평가 파이프라인에서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기반(Rule) 에이전트와 체계적으로 비교 실험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20240" y="1554480"/>
            <a:ext cx="36576" cy="640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LLM과 에이전트의 이해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대규모 언어모델(LLM)이란?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수십억 개의 매개변수로 이루어진 딥러닝 모델로, 대량의 텍스트 데이터에서 학습하여 인간 수준의 언어 이해·생성·추론이 가능한 AI 시스템. Transformer 아키텍처를 기반으로 문맥을 이해하고 새로운 텍스트를 생성한다.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54864" cy="23774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이해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군사 교리, 전술 보고서,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판단문 등 텍스트 형태의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지식을 이해하고 해석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286000"/>
            <a:ext cx="54864" cy="23774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및 판단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주어진 상황 정보를 바탕으로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 추론(Chain of Thought)을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통해 행동 방안(COA) 도출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286000"/>
            <a:ext cx="54864" cy="23774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출력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결과를 JSON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스키마에 맞춰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기계가 처리 가능한 형태로 출력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Agent: 자율적 의사결정 주체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전장 상황 보고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(Tactical Report)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5A5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05840"/>
            <a:ext cx="196596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1430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교리 기반 MDMP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(COA 생성·평가)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5A5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196596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1430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구조 행동 명령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(이동/공격/방어 등)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5A5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086600" y="1005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005840"/>
            <a:ext cx="1965960" cy="54864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1430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엔진이 명령 실행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결과 해소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880360"/>
            <a:ext cx="54864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vs LLM 에이전트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291840"/>
          <a:ext cx="7772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63240"/>
                <a:gridCol w="3063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 기반 에이전트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에이전트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의사결정 방식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사전 정의된 if-then 규칙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교리 기반 추론 (MDMP)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행동 다양성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제한적 (4종 행동)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 (6종 행동, 창발적 조합)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적응력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 변경 시 코드 수정 필요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 변경으로 즉시 적응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 가능성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 추적으로 완전 투명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+ doctrine_reference 출력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교리 통합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수동으로 규칙에 인코딩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교리를 직접 이해·적용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20240" y="1554480"/>
            <a:ext cx="36576" cy="640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 설계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다중 에이전트 워게임 프레임워크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solidFill>
            <a:srgbClr val="D4E8D4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86968"/>
            <a:ext cx="2377440" cy="8321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886968"/>
            <a:ext cx="237744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/ Rule)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886968"/>
            <a:ext cx="2377440" cy="8321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886968"/>
            <a:ext cx="237744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60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/ Rule)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886968"/>
            <a:ext cx="2926080" cy="8321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886968"/>
            <a:ext cx="292608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960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(교리 평가 에이전트)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D4DEE8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121408"/>
            <a:ext cx="4023360" cy="6492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21408"/>
            <a:ext cx="402336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(Observe → Decide → Execute → Evaluate)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21408"/>
            <a:ext cx="3840480" cy="6492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21408"/>
            <a:ext cx="3840480" cy="36576"/>
          </a:xfrm>
          <a:prstGeom prst="rect">
            <a:avLst/>
          </a:prstGeom>
          <a:solidFill>
            <a:srgbClr val="2C3E5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Logger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 과정 추적 로그)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E8DDD4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172968"/>
            <a:ext cx="2011680" cy="6492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172968"/>
            <a:ext cx="2011680" cy="36576"/>
          </a:xfrm>
          <a:prstGeom prst="rect">
            <a:avLst/>
          </a:prstGeom>
          <a:solidFill>
            <a:srgbClr val="3A455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전술 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(Hex Grid)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3172968"/>
            <a:ext cx="2011680" cy="6492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0" y="3172968"/>
            <a:ext cx="2011680" cy="36576"/>
          </a:xfrm>
          <a:prstGeom prst="rect">
            <a:avLst/>
          </a:prstGeom>
          <a:solidFill>
            <a:srgbClr val="3A4558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해소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(Lanchester 모델)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172968"/>
            <a:ext cx="2011680" cy="6492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172968"/>
            <a:ext cx="2011680" cy="36576"/>
          </a:xfrm>
          <a:prstGeom prst="rect">
            <a:avLst/>
          </a:prstGeom>
          <a:solidFill>
            <a:srgbClr val="3A455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전장 안개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(Fog of War)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3172968"/>
            <a:ext cx="1463040" cy="6492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3172968"/>
            <a:ext cx="1463040" cy="36576"/>
          </a:xfrm>
          <a:prstGeom prst="rect">
            <a:avLst/>
          </a:prstGeom>
          <a:solidFill>
            <a:srgbClr val="3A4558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(YAML)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DDD4E8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224528"/>
            <a:ext cx="2743200" cy="466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224528"/>
            <a:ext cx="2743200" cy="36576"/>
          </a:xfrm>
          <a:prstGeom prst="rect">
            <a:avLst/>
          </a:prstGeom>
          <a:solidFill>
            <a:srgbClr val="2C3E5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(DCR, ESI, Entropy)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4224528"/>
            <a:ext cx="2743200" cy="466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0" y="4224528"/>
            <a:ext cx="2743200" cy="36576"/>
          </a:xfrm>
          <a:prstGeom prst="rect">
            <a:avLst/>
          </a:prstGeom>
          <a:solidFill>
            <a:srgbClr val="2C3E5A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(t-test, U-test)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224528"/>
            <a:ext cx="2194560" cy="466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0" y="4224528"/>
            <a:ext cx="2194560" cy="36576"/>
          </a:xfrm>
          <a:prstGeom prst="rect">
            <a:avLst/>
          </a:prstGeom>
          <a:solidFill>
            <a:srgbClr val="2C3E5A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(SVG/PNG)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에이전트 의사결정 파이프라인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60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상황 인식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of War 필터링된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아군·적군 상태를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Report로 렌더링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280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0" y="8229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822960"/>
            <a:ext cx="196596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960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교리 프롬프트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0048" y="1325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3-90 기반 교리 지침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MDMP 의사결정 절차를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프롬프트로 주입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1280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196596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960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 추론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1325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→ DEVELOP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(COA 2개 생성) → DECIDE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 COA 선택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12801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949440" y="82296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822960"/>
            <a:ext cx="1965960" cy="54864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21" name="Text 19"/>
          <p:cNvSpPr/>
          <p:nvPr/>
        </p:nvSpPr>
        <p:spPr>
          <a:xfrm>
            <a:off x="7059168" y="960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출력 파싱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59168" y="1325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스키마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+ 6단계 에러 복구 로직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Fallback 안전장치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017520"/>
            <a:ext cx="54864" cy="1920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출력 예시 (JSON)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38328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"reasoning": "도시 지형을 활용한 집중·기동. Blue-A가 도시 핵심 지점으로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기동하고, Blue-C가 화력지원으로 엄호",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"doctrine_reference": "FM 3-90: Concentration, Security, Maneuver",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{"unit_id": "blue-a", "action_type": "move",  "target_hex": {"q":10,"r":7}},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{"unit_id": "blue-b", "action_type": "hold",  "target_hex": null},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{"unit_id": "blue-c", "action_type": "support_by_fire", "target_hex": {"q":10,"r":7}}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전투 해소 및 전장 안개 모델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023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Lanchester 선형 감모 모델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Loss = α_red × Red_Strength × Δt / Blue_Def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Loss  = α_blue × Blue_Strength × Δt / Red_Def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감모율 (α)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 (시간 단위)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확률적 노이즈 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지형 방어 보정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1.0 / Forest 1.3 / Urban 1.5 / Mt 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82296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822960"/>
            <a:ext cx="54864" cy="4023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전장 안개 (Fog of War)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8348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가시성 모델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9164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4630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 수준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(Identified)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식별 반경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위치, 전력, 태세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정확히 파악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(Detected)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가시 반경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존재 확인,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전력 ±20% 불확실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미관측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(Unobserved)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가시 반경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 없음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49834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프리셋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3794760"/>
          <a:ext cx="3474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0515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프리셋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가시 반경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식별 반경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(Phase 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(Phase 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20240" y="1554480"/>
            <a:ext cx="36576" cy="640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설계 및 수행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5개 전술 시나리오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3210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731520"/>
                <a:gridCol w="1280160"/>
                <a:gridCol w="457200"/>
                <a:gridCol w="3749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시나리오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맵 크기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병력 (Blue vs Red)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조우전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(Open Encounter)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vs 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평지 중앙 도시 쟁탈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산악 공격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(Mountain Assault)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 vs 310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능선 점령 (공격 vs 방어)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시가전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(Urban Fight)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vs 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밀집 도시 블록 통제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도하 작전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(River Crossing)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 vs 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교두보 확보 vs 도하 저지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돌파 작전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(Breakout)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 vs 280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포위 돌파 vs 차단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321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설계 특징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Grid 기반 전술 맵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(축좌표 좌표계)으로 실제 지형 요소(산악, 하천, 도시, 삼림) 반영. </a:t>
            </a:r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설정 파일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유닛 배치, 목표, 지형을 정의하여 재현 가능한 실험 환경 구축. 각 시나리오는 공격/방어/혼합 등 다양한 교리 적용 상황을 포괄함.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구성: 350 게임 매트릭스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2286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Rule-vs-Rule 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시나리오 × 50 시드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에이전트 양측 배치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Preset: Baseline (VR=8, IDR=3)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 전투 해소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54864" cy="22860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LLM (Qwen2.5-7B)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234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games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시나리오 × 20 시드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Qwen2.5-7B-Instruct (4bit)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Rule 에이전트 (동일 기준)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Preset: LLM (VR=5, IDR=2)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337560"/>
            <a:ext cx="54864" cy="155448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 체계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74904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274320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4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DCR (교리 준수율)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Cell 6개 교리 원칙 평가 평균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초과 시 교리 준수 유의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Entropy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Shannon entropy of action distribution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높을수록 행동 다양성 우수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 (에스컬레이션 지수)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턴 간 공격성 변동 평균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전술 유연성 측정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 승률 (잔존 전력 비교)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전투 효과성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출력 파싱 실패 비율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안정성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20240" y="1554480"/>
            <a:ext cx="36576" cy="640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결과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결과: Rule vs LLM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182880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8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교리 준수율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+11.6%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Rule 0.644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8229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822960"/>
            <a:ext cx="54864" cy="1828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행동 엔트로피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+40.8%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Rule 1.21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8229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82296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Fallback 비율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파싱 실패율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880360"/>
          <a:ext cx="83210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통계적 검증 결과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201168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교리 준수율 &gt; 0.5 ?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검정 방법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One-sample t-test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통계량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 × 10⁻⁴⁰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2.257 (Large)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[0.699, 0.738]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유의하게 0.5 초과 (p &lt; 0.001)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8229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822960"/>
            <a:ext cx="54864" cy="20116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LLM 행동 다양성 &gt; Rule ?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검정 방법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통계량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22,316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8.48 × 10⁻³¹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효과 크기 |r|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 (Large)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1.701 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유의하게 높은 다양성 (p &lt; 0.001)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306324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3063240"/>
            <a:ext cx="54864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3474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교리 준수: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LLM은 DCR 0.718로 기준치(0.5)를 유의하게 초과. FM 3-90 교리를 프롬프트만으로 학습하여 준수하는 것이 통계적으로 확인됨.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다양성: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행동 엔트로피(1.70 bits)가 Rule 에이전트(1.21 bits) 대비 40.8% 높음. 6종 행동(hold, move, attack, support_by_fire, recon, withdraw)을 모두 활용하며, 특히 support_by_fire(11.7%)와 attack(9.6%)의 비중이 Rule 대비 현저히 증가.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승률: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승률은 Rule(26.4%) vs LLM(22.0%)으로 유의한 차이 없음 (p=0.417). 행동 다양성 증가가 곧바로 승률 향상으로 연결되지는 않으나, 교리 준수와 다양한 전술 구사 능력은 별도의 가치를 가짐.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시나리오별 상세 결과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Rule-vs-Rule (n=250)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1188720"/>
                <a:gridCol w="118872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시나리오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조우전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산악 공격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시가전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도하 작전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돌파 작전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평균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063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LLM (Qwen2.5-7B) vs Rule (n=100)</a:t>
            </a:r>
            <a:endParaRPr lang="en-US" sz="11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1188720"/>
                <a:gridCol w="118872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시나리오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조우전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산악 공격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시가전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도하 작전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돌파 작전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평균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의사결정 근거 추적 (RQ3)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추적 프레임워크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24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출력한 자연어 판단 근거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"도시 지형을 활용한 집중·기동으로..."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24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doctrine_reference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참조한 교리 명시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"FM 3-90: Concentration, Security"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48840"/>
            <a:ext cx="54864" cy="9144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원본 응답 전문 보존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 전 텍스트 완전 기록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48840"/>
            <a:ext cx="54864" cy="91440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rendered_prompt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LLM에 전달된 전체 프롬프트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보고 + 교리 지침 포함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321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Reasoning-Action 일관성 분석 결과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방법: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reasoning 필드에 서술한 키워드(attack, flank, hold 등)와 실제 출력 행동(actions)의 일치율을 자동 검증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 높은 사례: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"도시 핵심 지점으로 기동" → move 행동 + maneuver 태세 출력 (coherence=1.0)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 사례: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reasoning에 "attack", "secure" 언급했으나 실제로는 모두 move 행동만 출력 (coherence=0.0)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교리 용어를 사용하고 근거를 제시하지만, 의도와 행동 간 불일치가 일부 존재하여 사후 검증 메커니즘이 필수적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 유형 분포 비교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8412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321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49040"/>
            <a:ext cx="54864" cy="11887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6종 행동을 모두 활용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하며, 특히 </a:t>
            </a:r>
            <a:pPr indent="0" marL="0">
              <a:buNone/>
            </a:pPr>
            <a:r>
              <a:rPr lang="en-US" sz="10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support_by_fire(11.7%)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</a:t>
            </a:r>
            <a:pPr indent="0" marL="0">
              <a:buNone/>
            </a:pPr>
            <a:r>
              <a:rPr lang="en-US" sz="10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attack(9.6%)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적극 사용. Rule 에이전트가 전혀 사용하지 않는 화력지원·정찰을 구사하여 복합 전술 운용이 가능함을 시사. withdraw는 Rule에서만 나타나 각 에이전트의 교리 해석 차이를 보여줌.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20240" y="1554480"/>
            <a:ext cx="36576" cy="640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워게임과의 비교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워게임 대비 LLM 워게임의 우위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840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항목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워게임 (규칙/스크립트 기반)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기반 워게임 (본 연구)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의사결정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사전 정의된 if-then 규칙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시 코드 수정 필요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교리를 직접 이해하고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MDMP 절차에 따라 추론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교리 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전문가가 수동으로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규칙에 인코딩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프롬프트에 교리 텍스트 주입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교리 변경 시 즉시 반영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다양성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정의된 규칙 범위 내에서만 작동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(Entropy: 1.21 bits)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6종 행동의 창의적 조합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(Entropy: 1.70 bits, +40.8%)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 추적으로 투명하나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인간적 설명은 부재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+ doctrine_reference로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판단 근거 제공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확장성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시나리오마다 규칙 재설계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높은 전문가 투입 비용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프롬프트·시나리오 YAML 변경으로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신속한 실험 확장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불확실성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 외 상황에 대처 불가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정해진 패턴만 반복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전장 안개 하에서도 맥락 기반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적응적 판단 수행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워게임 프레임워크 검증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4864" cy="228600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신뢰성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8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유닛 테스트 기반 전투 해소,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규칙, Fog of War,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로딩 검증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7772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777240"/>
            <a:ext cx="54864" cy="228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868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188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97480" y="1645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965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5중 시드(engine, blue, red,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cell, base)로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확률 요소 통제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77240"/>
            <a:ext cx="54864" cy="22860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868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공정한 비교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188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동일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92040" y="1645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965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LLM과 Rule이 완전히 동일한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엔진·시나리오·로그 파이프라인에서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7772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777240"/>
            <a:ext cx="54864" cy="2286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868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실험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1188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86600" y="16459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1965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Rule + 100 LLM 게임으로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확보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0.001)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321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291840"/>
            <a:ext cx="54864" cy="164592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Cell 자동 교리 평가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3703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6대 교리 원칙 자동 평가 시스템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31920"/>
          <a:ext cx="7863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7607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 기준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4E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집중 (Concentration)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≥2/3 전투력이 주 노력 지점에 집중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 (Security)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노출 측면에 관측 또는 지형 엄폐 확보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기동 (Maneuver)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≥1개 부대가 적 취약점 활용 기동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단순성 (Simplicity)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≤3개 동시 기동 요소 유지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 (Objective)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할당된 목표에 대한 일관된 진전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지휘 통일 (Unity)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비차폐 부대 간 3 hex 이내 상호 지원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20240" y="1554480"/>
            <a:ext cx="36576" cy="6400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결론 및 활용 가능성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연구 결론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321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91440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8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군사 교리를 이해하고 준수할 수 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 0.718 (p &lt; 0.001, Cohen's d = 2.257)로 FM 3-90 교리를 프롬프트만으로 학습하여 유의미하게 준수. 별도의 규칙 인코딩 없이 자연어 교리를 직접 적용 가능.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321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9144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에이전트는 더 다양한 전술을 구사한다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엔트로피 1.70 bits (Rule 대비 +40.8%, p &lt; 0.001). 6종 행동을 모두 활용하며, 특히 화력지원(11.7%)과 정찰(1.7%) 등 복합 전술 운용 확인.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321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05840" y="29535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근거의 추적·검증이 가능하다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doctrine_reference, raw_output, rendered_prompt의 완전한 추적 체계를 통해 매 턴의 판단 근거를 사후 분석 가능. Reasoning-Action 일관성 자동 검증 도구 구현.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321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" y="40050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가능한 실험 프레임워크를 구축했다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350회 게임(5 시나리오 × 다중 시드)에서 통계적 유의성 확보. 동일 엔진, 동일 로그, 동일 평가 파이프라인으로 공정한 비교 가능.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국방 분야 LLM 활용 가능성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13258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훈련 시뮬레이션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교육용 적군 에이전트로 활용.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다른 전술을 구사하는 적 대응으로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실전적 훈련 환경 제공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777240"/>
            <a:ext cx="54864" cy="13258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작전 계획 보조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COA를 자동 생성하고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교리 준수 여부를 실시간 평가.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참모 의사결정 지원 도구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54864" cy="13258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시뮬레이션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 전술의 다양한 변형을 자동 생성.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스크립트 기반 적보다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불가능한 위협 모사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33172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331720"/>
            <a:ext cx="54864" cy="13258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교리 검증 도구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교리를 프롬프트로 주입 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시뮬레이션을 통해 효과성 사전 검증.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교리 개발 주기 단축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321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86200"/>
            <a:ext cx="54864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큰 모델(70B급) 및 다양한 LLM 비교 실험  </a:t>
            </a:r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LLM 에이전트 간 대결(LLM vs LLM)  </a:t>
            </a:r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대대급 이상 작전 시나리오 확장  </a:t>
            </a:r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한국군 교리(야전교범) 적용 실험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 유대현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dhyoo970111@gmail.com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기반 다중 에이전트 워게임 시뮬레이션 연구</dc:title>
  <dc:subject>PptxGenJS Presentation</dc:subject>
  <dc:creator>Daehyun Yoo</dc:creator>
  <cp:lastModifiedBy>Daehyun Yoo</cp:lastModifiedBy>
  <cp:revision>1</cp:revision>
  <dcterms:created xsi:type="dcterms:W3CDTF">2026-04-18T10:44:43Z</dcterms:created>
  <dcterms:modified xsi:type="dcterms:W3CDTF">2026-04-18T10:44:43Z</dcterms:modified>
</cp:coreProperties>
</file>